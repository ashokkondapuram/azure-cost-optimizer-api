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371600"/>
          </a:xfrm>
          <a:prstGeom prst="round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CostOptimizeRecommender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28BCA"/>
                </a:solidFill>
              </a:defRPr>
            </a:pPr>
            <a:r>
              <a:t>System Architecture - Visual Component 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B9B9B"/>
                </a:solidFill>
              </a:defRPr>
            </a:pPr>
            <a:r>
              <a:t>Three-tier architecture with clear separation of concerns and independent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103120" cy="731520"/>
          </a:xfrm>
          <a:prstGeom prst="roundRect">
            <a:avLst/>
          </a:prstGeom>
          <a:solidFill>
            <a:srgbClr val="428BCA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React Frontend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SPA with Context</a:t>
            </a:r>
            <a:br/>
            <a:r>
              <a:t>State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645920"/>
            <a:ext cx="2103120" cy="731520"/>
          </a:xfrm>
          <a:prstGeom prst="roundRect">
            <a:avLst/>
          </a:prstGeom>
          <a:solidFill>
            <a:srgbClr val="5CB85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FastAPI Backend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REST APIs</a:t>
            </a:r>
            <a:br/>
            <a:r>
              <a:t>Business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2103120" cy="73152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PostgreSQL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Persistent</a:t>
            </a:r>
            <a:br/>
            <a:r>
              <a:t>Storage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011680"/>
            <a:ext cx="548640" cy="0"/>
          </a:xfrm>
          <a:prstGeom prst="line">
            <a:avLst/>
          </a:prstGeom>
          <a:ln w="381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94960" y="2011680"/>
            <a:ext cx="548640" cy="0"/>
          </a:xfrm>
          <a:prstGeom prst="line">
            <a:avLst/>
          </a:prstGeom>
          <a:ln w="381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274320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External APIs: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274320" y="3017520"/>
            <a:ext cx="2011680" cy="548640"/>
          </a:xfrm>
          <a:prstGeom prst="roundRect">
            <a:avLst/>
          </a:prstGeom>
          <a:solidFill>
            <a:srgbClr val="1F4E78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Azure Cost API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Billed Cost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3017520"/>
            <a:ext cx="2011680" cy="548640"/>
          </a:xfrm>
          <a:prstGeom prst="roundRect">
            <a:avLst/>
          </a:prstGeom>
          <a:solidFill>
            <a:srgbClr val="1F4E78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Azure ARM API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Resource Mgmt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017520"/>
            <a:ext cx="2011680" cy="548640"/>
          </a:xfrm>
          <a:prstGeom prst="roundRect">
            <a:avLst/>
          </a:prstGeom>
          <a:solidFill>
            <a:srgbClr val="1F4E78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Kubernetes API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Telemetry Data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280160" y="2377440"/>
            <a:ext cx="2651760" cy="640080"/>
          </a:xfrm>
          <a:prstGeom prst="line">
            <a:avLst/>
          </a:prstGeom>
          <a:ln w="254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74720" y="2377440"/>
            <a:ext cx="822960" cy="640080"/>
          </a:xfrm>
          <a:prstGeom prst="line">
            <a:avLst/>
          </a:prstGeom>
          <a:ln w="254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4572000" y="2377440"/>
            <a:ext cx="1097280" cy="640080"/>
          </a:xfrm>
          <a:prstGeom prst="line">
            <a:avLst/>
          </a:prstGeom>
          <a:ln w="254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4320" y="3931920"/>
            <a:ext cx="2468879" cy="13716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b="1" sz="1200">
                <a:solidFill>
                  <a:srgbClr val="1F4E78"/>
                </a:solidFill>
              </a:defRPr>
            </a:pPr>
            <a:r>
              <a:t>Presentation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React SPA</a:t>
            </a:r>
            <a:br/>
            <a:r>
              <a:t>Components</a:t>
            </a:r>
            <a:br/>
            <a:r>
              <a:t>Routing</a:t>
            </a:r>
            <a:br/>
            <a:r>
              <a:t>State Mgmt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79" y="3931920"/>
            <a:ext cx="2468879" cy="13716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b="1" sz="1200">
                <a:solidFill>
                  <a:srgbClr val="1F4E78"/>
                </a:solidFill>
              </a:defRPr>
            </a:pPr>
            <a:r>
              <a:t>Application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Services</a:t>
            </a:r>
            <a:br/>
            <a:r>
              <a:t>Middleware</a:t>
            </a:r>
            <a:br/>
            <a:r>
              <a:t>Auth/CORS</a:t>
            </a:r>
            <a:br/>
            <a:r>
              <a:t>Logging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0" y="3931920"/>
            <a:ext cx="2468879" cy="13716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b="1" sz="1200">
                <a:solidFill>
                  <a:srgbClr val="1F4E78"/>
                </a:solidFill>
              </a:defRPr>
            </a:pPr>
            <a:r>
              <a:t>Data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Models</a:t>
            </a:r>
            <a:br/>
            <a:r>
              <a:t>Connections</a:t>
            </a:r>
            <a:br/>
            <a:r>
              <a:t>Queries</a:t>
            </a:r>
            <a:br/>
            <a:r>
              <a:t>Transactions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Component Interaction &amp;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6400800" cy="640080"/>
          </a:xfrm>
          <a:prstGeom prst="roundRect">
            <a:avLst/>
          </a:prstGeom>
          <a:solidFill>
            <a:srgbClr val="428BCA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Frontend (React)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Dashboard | Cost Explorer | Inventory | Recommendations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2011680"/>
            <a:ext cx="0" cy="457200"/>
          </a:xfrm>
          <a:prstGeom prst="line">
            <a:avLst/>
          </a:prstGeom>
          <a:ln w="381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71600" y="2468880"/>
            <a:ext cx="6400800" cy="640080"/>
          </a:xfrm>
          <a:prstGeom prst="roundRect">
            <a:avLst/>
          </a:prstGeom>
          <a:solidFill>
            <a:srgbClr val="2980B9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Middleware &amp; Routing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Auth | CORS | Rate Limiting | Logging | Error Handling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3108960"/>
            <a:ext cx="0" cy="457200"/>
          </a:xfrm>
          <a:prstGeom prst="line">
            <a:avLst/>
          </a:prstGeom>
          <a:ln w="381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97280" y="3566160"/>
            <a:ext cx="1371600" cy="640080"/>
          </a:xfrm>
          <a:prstGeom prst="roundRect">
            <a:avLst/>
          </a:prstGeom>
          <a:solidFill>
            <a:srgbClr val="5CB85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Cost</a:t>
            </a:r>
            <a:br/>
            <a:r>
              <a:t>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3566160"/>
            <a:ext cx="1371600" cy="640080"/>
          </a:xfrm>
          <a:prstGeom prst="roundRect">
            <a:avLst/>
          </a:prstGeom>
          <a:solidFill>
            <a:srgbClr val="5CB85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Resource</a:t>
            </a:r>
            <a:br/>
            <a:r>
              <a:t>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3566160"/>
            <a:ext cx="1371600" cy="640080"/>
          </a:xfrm>
          <a:prstGeom prst="roundRect">
            <a:avLst/>
          </a:prstGeom>
          <a:solidFill>
            <a:srgbClr val="5CB85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Optimization</a:t>
            </a:r>
            <a:br/>
            <a:r>
              <a:t>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3566160"/>
            <a:ext cx="1371600" cy="640080"/>
          </a:xfrm>
          <a:prstGeom prst="roundRect">
            <a:avLst/>
          </a:prstGeom>
          <a:solidFill>
            <a:srgbClr val="5CB85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Dashboard</a:t>
            </a:r>
            <a:br/>
            <a:r>
              <a:t>Service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4206240"/>
            <a:ext cx="0" cy="457200"/>
          </a:xfrm>
          <a:prstGeom prst="line">
            <a:avLst/>
          </a:prstGeom>
          <a:ln w="381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371600" y="4663440"/>
            <a:ext cx="6400800" cy="64008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PostgreSQL Database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Costs | Resources | Findings | History | Config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Processing Pipelines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F4E78"/>
                </a:solidFill>
              </a:defRPr>
            </a:pPr>
            <a:r>
              <a:t>Cost Data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188720"/>
            <a:ext cx="1097280" cy="457200"/>
          </a:xfrm>
          <a:prstGeom prst="roundRect">
            <a:avLst/>
          </a:prstGeom>
          <a:solidFill>
            <a:srgbClr val="428BCA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Azure Cost API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83280" y="1417320"/>
            <a:ext cx="182880" cy="0"/>
          </a:xfrm>
          <a:prstGeom prst="line">
            <a:avLst/>
          </a:prstGeom>
          <a:ln w="254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566160" y="1188720"/>
            <a:ext cx="1097280" cy="457200"/>
          </a:xfrm>
          <a:prstGeom prst="roundRect">
            <a:avLst/>
          </a:prstGeom>
          <a:solidFill>
            <a:srgbClr val="428BCA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Parse &amp; Validate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63440" y="1417320"/>
            <a:ext cx="182880" cy="0"/>
          </a:xfrm>
          <a:prstGeom prst="line">
            <a:avLst/>
          </a:prstGeom>
          <a:ln w="254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46320" y="1188720"/>
            <a:ext cx="1097280" cy="457200"/>
          </a:xfrm>
          <a:prstGeom prst="roundRect">
            <a:avLst/>
          </a:prstGeom>
          <a:solidFill>
            <a:srgbClr val="428BCA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Normalize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0" y="1417320"/>
            <a:ext cx="182879" cy="0"/>
          </a:xfrm>
          <a:prstGeom prst="line">
            <a:avLst/>
          </a:prstGeom>
          <a:ln w="254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26479" y="1188720"/>
            <a:ext cx="1097280" cy="457200"/>
          </a:xfrm>
          <a:prstGeom prst="roundRect">
            <a:avLst/>
          </a:prstGeom>
          <a:solidFill>
            <a:srgbClr val="428BCA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Store in DB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23759" y="1417320"/>
            <a:ext cx="182881" cy="0"/>
          </a:xfrm>
          <a:prstGeom prst="line">
            <a:avLst/>
          </a:prstGeom>
          <a:ln w="254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06640" y="1188720"/>
            <a:ext cx="1097280" cy="457200"/>
          </a:xfrm>
          <a:prstGeom prst="roundRect">
            <a:avLst/>
          </a:prstGeom>
          <a:solidFill>
            <a:srgbClr val="428BCA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Aggregate &amp; Display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2860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F4E78"/>
                </a:solidFill>
              </a:defRPr>
            </a:pPr>
            <a:r>
              <a:t>Resource 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286000"/>
            <a:ext cx="1097280" cy="457200"/>
          </a:xfrm>
          <a:prstGeom prst="roundRect">
            <a:avLst/>
          </a:prstGeom>
          <a:solidFill>
            <a:srgbClr val="5CB85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Azure ARM API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83280" y="2514600"/>
            <a:ext cx="182880" cy="0"/>
          </a:xfrm>
          <a:prstGeom prst="line">
            <a:avLst/>
          </a:prstGeom>
          <a:ln w="254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566160" y="2286000"/>
            <a:ext cx="1097280" cy="457200"/>
          </a:xfrm>
          <a:prstGeom prst="roundRect">
            <a:avLst/>
          </a:prstGeom>
          <a:solidFill>
            <a:srgbClr val="5CB85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Extract Properties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63440" y="2514600"/>
            <a:ext cx="182880" cy="0"/>
          </a:xfrm>
          <a:prstGeom prst="line">
            <a:avLst/>
          </a:prstGeom>
          <a:ln w="254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846320" y="2286000"/>
            <a:ext cx="1097280" cy="457200"/>
          </a:xfrm>
          <a:prstGeom prst="roundRect">
            <a:avLst/>
          </a:prstGeom>
          <a:solidFill>
            <a:srgbClr val="5CB85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Enrich Metadata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0" y="2514600"/>
            <a:ext cx="182879" cy="0"/>
          </a:xfrm>
          <a:prstGeom prst="line">
            <a:avLst/>
          </a:prstGeom>
          <a:ln w="254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26479" y="2286000"/>
            <a:ext cx="1097280" cy="457200"/>
          </a:xfrm>
          <a:prstGeom prst="roundRect">
            <a:avLst/>
          </a:prstGeom>
          <a:solidFill>
            <a:srgbClr val="5CB85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Sync to DB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23759" y="2514600"/>
            <a:ext cx="182881" cy="0"/>
          </a:xfrm>
          <a:prstGeom prst="line">
            <a:avLst/>
          </a:prstGeom>
          <a:ln w="254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06640" y="2286000"/>
            <a:ext cx="1097280" cy="457200"/>
          </a:xfrm>
          <a:prstGeom prst="roundRect">
            <a:avLst/>
          </a:prstGeom>
          <a:solidFill>
            <a:srgbClr val="5CB85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Index &amp; 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3832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F4E78"/>
                </a:solidFill>
              </a:defRPr>
            </a:pPr>
            <a:r>
              <a:t>Optimization Pipeline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3383280"/>
            <a:ext cx="1097280" cy="45720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Load Rules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83280" y="3611880"/>
            <a:ext cx="182880" cy="0"/>
          </a:xfrm>
          <a:prstGeom prst="line">
            <a:avLst/>
          </a:prstGeom>
          <a:ln w="254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566160" y="3383280"/>
            <a:ext cx="1097280" cy="45720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Evaluate Resources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63440" y="3611880"/>
            <a:ext cx="182880" cy="0"/>
          </a:xfrm>
          <a:prstGeom prst="line">
            <a:avLst/>
          </a:prstGeom>
          <a:ln w="254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846320" y="3383280"/>
            <a:ext cx="1097280" cy="45720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Calculate Savings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43600" y="3611880"/>
            <a:ext cx="182879" cy="0"/>
          </a:xfrm>
          <a:prstGeom prst="line">
            <a:avLst/>
          </a:prstGeom>
          <a:ln w="254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126479" y="3383280"/>
            <a:ext cx="1097280" cy="45720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Generate Findings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223759" y="3611880"/>
            <a:ext cx="182881" cy="0"/>
          </a:xfrm>
          <a:prstGeom prst="line">
            <a:avLst/>
          </a:prstGeom>
          <a:ln w="254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406640" y="3383280"/>
            <a:ext cx="1097280" cy="45720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Deduplicate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Authentication &amp; Authorization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LOGIN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1645920" cy="640080"/>
          </a:xfrm>
          <a:prstGeom prst="roundRect">
            <a:avLst/>
          </a:prstGeom>
          <a:solidFill>
            <a:srgbClr val="428BCA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User</a:t>
            </a:r>
            <a:br/>
            <a:r>
              <a:t>Credentials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1874519"/>
            <a:ext cx="182880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11679" y="1554480"/>
            <a:ext cx="1645920" cy="640080"/>
          </a:xfrm>
          <a:prstGeom prst="roundRect">
            <a:avLst/>
          </a:prstGeom>
          <a:solidFill>
            <a:srgbClr val="428BCA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Auth</a:t>
            </a:r>
            <a:br/>
            <a:r>
              <a:t>Endpoint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0" y="1874519"/>
            <a:ext cx="182879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49039" y="1554480"/>
            <a:ext cx="1645920" cy="640080"/>
          </a:xfrm>
          <a:prstGeom prst="roundRect">
            <a:avLst/>
          </a:prstGeom>
          <a:solidFill>
            <a:srgbClr val="428BCA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Validate</a:t>
            </a:r>
            <a:br/>
            <a:r>
              <a:t>Password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94959" y="1874519"/>
            <a:ext cx="182881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86400" y="1554480"/>
            <a:ext cx="1645920" cy="640080"/>
          </a:xfrm>
          <a:prstGeom prst="roundRect">
            <a:avLst/>
          </a:prstGeom>
          <a:solidFill>
            <a:srgbClr val="428BCA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Generate</a:t>
            </a:r>
            <a:br/>
            <a:r>
              <a:t>JWT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32320" y="1874519"/>
            <a:ext cx="182880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23760" y="1554480"/>
            <a:ext cx="1645920" cy="640080"/>
          </a:xfrm>
          <a:prstGeom prst="roundRect">
            <a:avLst/>
          </a:prstGeom>
          <a:solidFill>
            <a:srgbClr val="428BCA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Return</a:t>
            </a:r>
            <a:br/>
            <a:r>
              <a:t>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560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PROTECTED REQUEST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560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274320" y="3017520"/>
            <a:ext cx="1645920" cy="640080"/>
          </a:xfrm>
          <a:prstGeom prst="roundRect">
            <a:avLst/>
          </a:prstGeom>
          <a:solidFill>
            <a:srgbClr val="5CB85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Request +</a:t>
            </a:r>
            <a:br/>
            <a:r>
              <a:t>Token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20240" y="3337560"/>
            <a:ext cx="182880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011679" y="3017520"/>
            <a:ext cx="1645920" cy="640080"/>
          </a:xfrm>
          <a:prstGeom prst="roundRect">
            <a:avLst/>
          </a:prstGeom>
          <a:solidFill>
            <a:srgbClr val="5CB85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Validate</a:t>
            </a:r>
            <a:br/>
            <a:r>
              <a:t>Signature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57600" y="3337560"/>
            <a:ext cx="182879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749039" y="3017520"/>
            <a:ext cx="1645920" cy="640080"/>
          </a:xfrm>
          <a:prstGeom prst="roundRect">
            <a:avLst/>
          </a:prstGeom>
          <a:solidFill>
            <a:srgbClr val="5CB85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Check</a:t>
            </a:r>
            <a:br/>
            <a:r>
              <a:t>Expiration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94959" y="3337560"/>
            <a:ext cx="182881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0" y="3017520"/>
            <a:ext cx="1645920" cy="640080"/>
          </a:xfrm>
          <a:prstGeom prst="roundRect">
            <a:avLst/>
          </a:prstGeom>
          <a:solidFill>
            <a:srgbClr val="5CB85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RBAC</a:t>
            </a:r>
            <a:br/>
            <a:r>
              <a:t>Check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0" y="3337560"/>
            <a:ext cx="182880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23760" y="3017520"/>
            <a:ext cx="1645920" cy="640080"/>
          </a:xfrm>
          <a:prstGeom prst="roundRect">
            <a:avLst/>
          </a:prstGeom>
          <a:solidFill>
            <a:srgbClr val="5CB85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Execute</a:t>
            </a:r>
            <a:br/>
            <a:r>
              <a:t>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023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ROLE-BASED ACCESS CONTROL (RBAC)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023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457200" y="4480560"/>
            <a:ext cx="3657600" cy="118872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Admin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Analyze</a:t>
            </a:r>
            <a:br/>
            <a:r>
              <a:t>• Sync Data</a:t>
            </a:r>
            <a:br/>
            <a:r>
              <a:t>• Settings</a:t>
            </a:r>
            <a:br/>
            <a:r>
              <a:t>• User Mgmt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4480560"/>
            <a:ext cx="3657600" cy="1188720"/>
          </a:xfrm>
          <a:prstGeom prst="roundRect">
            <a:avLst/>
          </a:prstGeom>
          <a:solidFill>
            <a:srgbClr val="76C976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Viewer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Read Costs</a:t>
            </a:r>
            <a:br/>
            <a:r>
              <a:t>• View Inventory</a:t>
            </a:r>
            <a:br/>
            <a:r>
              <a:t>• See Findings</a:t>
            </a:r>
            <a:br/>
            <a:r>
              <a:t>• Export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CI/CD Deployment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828800" cy="1645920"/>
          </a:xfrm>
          <a:prstGeom prst="roundRect">
            <a:avLst/>
          </a:prstGeom>
          <a:solidFill>
            <a:srgbClr val="428BCA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Git Push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Code Commit to Main Branch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2194560"/>
            <a:ext cx="182880" cy="0"/>
          </a:xfrm>
          <a:prstGeom prst="line">
            <a:avLst/>
          </a:prstGeom>
          <a:ln w="381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68880" y="1371600"/>
            <a:ext cx="1828800" cy="1645920"/>
          </a:xfrm>
          <a:prstGeom prst="roundRect">
            <a:avLst/>
          </a:prstGeom>
          <a:solidFill>
            <a:srgbClr val="5CB85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Build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Compile React</a:t>
            </a:r>
            <a:br/>
            <a:r>
              <a:t>• Test Backend</a:t>
            </a:r>
            <a:br/>
            <a:r>
              <a:t>• Create Artifact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97680" y="2194560"/>
            <a:ext cx="182880" cy="0"/>
          </a:xfrm>
          <a:prstGeom prst="line">
            <a:avLst/>
          </a:prstGeom>
          <a:ln w="381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80560" y="1371600"/>
            <a:ext cx="1828800" cy="164592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Deploy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Configure App Service</a:t>
            </a:r>
            <a:br/>
            <a:r>
              <a:t>• Deploy Zip</a:t>
            </a:r>
            <a:br/>
            <a:r>
              <a:t>• Start Server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09360" y="2194560"/>
            <a:ext cx="182880" cy="0"/>
          </a:xfrm>
          <a:prstGeom prst="line">
            <a:avLst/>
          </a:prstGeom>
          <a:ln w="381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92240" y="1371600"/>
            <a:ext cx="1828800" cy="1645920"/>
          </a:xfrm>
          <a:prstGeom prst="roundRect">
            <a:avLst/>
          </a:prstGeom>
          <a:solidFill>
            <a:srgbClr val="2980B9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Production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Running App</a:t>
            </a:r>
            <a:br/>
            <a:r>
              <a:t>• Scaled Load</a:t>
            </a:r>
            <a:br/>
            <a:r>
              <a:t>•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PRODUCTION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2011680" cy="1371600"/>
          </a:xfrm>
          <a:prstGeom prst="roundRect">
            <a:avLst/>
          </a:prstGeom>
          <a:solidFill>
            <a:srgbClr val="428BCA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App Service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Python 3.13</a:t>
            </a:r>
            <a:br/>
            <a:r>
              <a:t>Uvicorn Server</a:t>
            </a:r>
            <a:br/>
            <a:r>
              <a:t>Auto-scaling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3931920"/>
            <a:ext cx="2011680" cy="1371600"/>
          </a:xfrm>
          <a:prstGeom prst="roundRect">
            <a:avLst/>
          </a:prstGeom>
          <a:solidFill>
            <a:srgbClr val="5CB85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Database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PostgreSQL</a:t>
            </a:r>
            <a:br/>
            <a:r>
              <a:t>Managed</a:t>
            </a:r>
            <a:br/>
            <a:r>
              <a:t>Backups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931920"/>
            <a:ext cx="2011680" cy="137160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Monitoring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App Insights</a:t>
            </a:r>
            <a:br/>
            <a:r>
              <a:t>Logging</a:t>
            </a:r>
            <a:br/>
            <a:r>
              <a:t>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59" y="3931920"/>
            <a:ext cx="2011680" cy="1371600"/>
          </a:xfrm>
          <a:prstGeom prst="roundRect">
            <a:avLst/>
          </a:prstGeom>
          <a:solidFill>
            <a:srgbClr val="2980B9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Security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Managed Identity</a:t>
            </a:r>
            <a:br/>
            <a:r>
              <a:t>JWT Auth</a:t>
            </a:r>
            <a:br/>
            <a:r>
              <a:t>Encryption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Optimization Analysis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371600" cy="731520"/>
          </a:xfrm>
          <a:prstGeom prst="roundRect">
            <a:avLst/>
          </a:prstGeom>
          <a:solidFill>
            <a:srgbClr val="428BCA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User Triggers</a:t>
            </a:r>
            <a:br/>
            <a:r>
              <a:t>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1371600"/>
            <a:ext cx="1371600" cy="731520"/>
          </a:xfrm>
          <a:prstGeom prst="roundRect">
            <a:avLst/>
          </a:prstGeom>
          <a:solidFill>
            <a:srgbClr val="5CB85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Load</a:t>
            </a:r>
            <a:br/>
            <a:r>
              <a:t>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71600"/>
            <a:ext cx="1371600" cy="731520"/>
          </a:xfrm>
          <a:prstGeom prst="roundRect">
            <a:avLst/>
          </a:prstGeom>
          <a:solidFill>
            <a:srgbClr val="5CB85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Fetch</a:t>
            </a:r>
            <a:br/>
            <a:r>
              <a:t>Cost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371600"/>
            <a:ext cx="1371600" cy="731520"/>
          </a:xfrm>
          <a:prstGeom prst="roundRect">
            <a:avLst/>
          </a:prstGeom>
          <a:solidFill>
            <a:srgbClr val="5CB85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Fetch</a:t>
            </a:r>
            <a:br/>
            <a:r>
              <a:t>Resources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371600"/>
            <a:ext cx="1371600" cy="73152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Evaluate</a:t>
            </a:r>
            <a:br/>
            <a:r>
              <a:t>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1371600" cy="73152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Generate</a:t>
            </a:r>
            <a:br/>
            <a:r>
              <a:t>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3017520"/>
            <a:ext cx="1371600" cy="731520"/>
          </a:xfrm>
          <a:prstGeom prst="roundRect">
            <a:avLst/>
          </a:prstGeom>
          <a:solidFill>
            <a:srgbClr val="2980B9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Store</a:t>
            </a:r>
            <a:br/>
            <a:r>
              <a:t>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3017520"/>
            <a:ext cx="1371600" cy="731520"/>
          </a:xfrm>
          <a:prstGeom prst="roundRect">
            <a:avLst/>
          </a:prstGeom>
          <a:solidFill>
            <a:srgbClr val="428BCA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Display in</a:t>
            </a:r>
            <a:br/>
            <a:r>
              <a:t>Dashboard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8800" y="1737360"/>
            <a:ext cx="182880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83280" y="1737360"/>
            <a:ext cx="182880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1737360"/>
            <a:ext cx="182880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92240" y="1737360"/>
            <a:ext cx="182880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0" y="1645920"/>
            <a:ext cx="457200" cy="137160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120640" y="3474720"/>
            <a:ext cx="1554480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011680" y="3474720"/>
            <a:ext cx="1554480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57200" y="2103120"/>
            <a:ext cx="0" cy="82296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4320" y="4114800"/>
            <a:ext cx="8595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9B9B9B"/>
                </a:solidFill>
              </a:defRPr>
            </a:pPr>
            <a:r>
              <a:t>Optimization engine evaluates resources against configured rules, generates findings with savings estimates, deduplicates results, and stores for user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